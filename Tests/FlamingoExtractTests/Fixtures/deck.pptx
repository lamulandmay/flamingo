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8" r:id="rId4"/>
    <p:sldId id="257" r:id="rId3"/>
    <p:sldId id="259" r:id="rId5"/>
    <p:sldId id="260" r:id="rId6"/>
  </p:sldIdLst>
  <p:sldSz cx="12192000" cy="6858000"/>
  <p:notesSz cx="6858000" cy="9144000"/>
  <p:defaultTextStyle>
    <a:lvl1pPr marL="0" algn="l" defTabSz="914400">
      <a:defRPr sz="1800"/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685800" y="1143000"/>
            <a:ext cx="4572000" cy="9144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685800" y="4400550"/>
            <a:ext cx="4572000" cy="9144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the Camargue colony.</a:t>
            </a:r>
            <a:endParaRPr lang="en-US" dirty="0"/>
          </a:p>
          <a:p>
            <a:r>
              <a:rPr lang="en-US" dirty="0"/>
              <a:t>Ask who has seen one in the wild.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B6F15528-21DE-4FAA-801E-634DDDAF4B2B}" type="slidenum">
              <a:rPr lang="en-US"/>
              <a:t>3</a:t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B6F15528-21DE-4FAA-801E-634DDDAF4B2B}" type="slidenum">
              <a:rPr lang="en-US"/>
              <a:t>2</a:t>
            </a:fld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Counts are estimates.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B6F15528-21DE-4FAA-801E-634DDDAF4B2B}" type="slidenum">
              <a:rPr lang="en-US"/>
              <a:t>4</a:t>
            </a:fld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if asked.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B6F15528-21DE-4FAA-801E-634DDDAF4B2B}" type="slidenum">
              <a:rPr lang="en-US"/>
              <a:t>5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4572000" cy="9144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4572000" cy="9144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4572000" cy="9144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4572000" cy="9144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4572000" cy="914400"/>
          </a:xfrm>
          <a:prstGeom prst="rect">
            <a:avLst/>
          </a:prstGeom>
        </p:spPr>
        <p:txBody>
          <a:bodyPr/>
          <a:lstStyle/>
          <a:p>
            <a:fld id="{B6F15528-21DE-4FAA-801E-634DDDAF4B2B}" type="datetimeFigureOut">
              <a:rPr lang="en-US"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572000" cy="9144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4572000" cy="91440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4400"/>
      </a:lvl1pPr>
    </p:titleStyle>
    <p:bodyStyle>
      <a:lvl1pPr marL="228600" indent="-228600">
        <a:buFont typeface="Arial"/>
        <a:buChar char="•"/>
        <a:defRPr sz="28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Flamingo Field Guide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Notes from the lagoon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6F15528-21DE-4FAA-801E-634DDDAF4B2B}" type="datetime1">
              <a:rPr lang="en-US"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 dirty="0"/>
              <a:t>Internal draft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t>1</a:t>
            </a:fld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Diet &amp; feeding</a:t>
            </a:r>
            <a:endParaRPr lang="en-US" dirty="0"/>
          </a:p>
        </p:txBody>
      </p:sp>
      <p:grpSp>
        <p:nvGrpSpPr>
          <p:cNvPr id="3" name="Group 2"/>
          <p:cNvGrpSpPr/>
          <p:nvPr/>
        </p:nvGrpSpPr>
        <p:grpSpPr>
          <a:xfrm>
            <a:off x="838200" y="2000000"/>
            <a:ext cx="4572000" cy="914400"/>
            <a:chOff x="0" y="0"/>
            <a:chExt cx="4572000" cy="914400"/>
          </a:xfrm>
        </p:grpSpPr>
        <p:sp>
          <p:nvSpPr>
            <p:cNvPr id="4" name="TextBox 3"/>
            <p:cNvSpPr txBox="1"/>
            <p:nvPr/>
          </p:nvSpPr>
          <p:spPr>
            <a:xfrm>
              <a:off x="0" y="2000000"/>
              <a:ext cx="4572000" cy="914400"/>
            </a:xfrm>
            <a:prstGeom prst="rect">
              <a:avLst/>
            </a:prstGeom>
          </p:spPr>
          <p:txBody>
            <a:bodyPr/>
            <a:lstStyle/>
            <a:p>
              <a:r>
                <a:rPr lang="en-US" dirty="0"/>
                <a:t>Brine shrimp</a:t>
              </a:r>
              <a:endParaRPr lang="en-US" dirty="0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0" y="1000000"/>
              <a:ext cx="4572000" cy="914400"/>
            </a:xfrm>
            <a:prstGeom prst="rect">
              <a:avLst/>
            </a:prstGeom>
          </p:spPr>
          <p:txBody>
            <a:bodyPr/>
            <a:lstStyle/>
            <a:p>
              <a:r>
                <a:rPr lang="en-US" dirty="0"/>
                <a:t>Blue-green algae</a:t>
              </a:r>
              <a:endParaRPr lang="en-US" dirty="0"/>
            </a:p>
          </p:txBody>
        </p:sp>
        <p:grpSp>
          <p:nvGrpSpPr>
            <p:cNvPr id="6" name="Group 5"/>
            <p:cNvGrpSpPr/>
            <p:nvPr/>
          </p:nvGrpSpPr>
          <p:grpSpPr>
            <a:xfrm>
              <a:off x="0" y="3000000"/>
              <a:ext cx="4572000" cy="914400"/>
              <a:chOff x="0" y="0"/>
              <a:chExt cx="4572000" cy="914400"/>
            </a:xfrm>
          </p:grpSpPr>
          <p:sp>
            <p:nvSpPr>
              <p:cNvPr id="7" name="TextBox 6"/>
              <p:cNvSpPr txBox="1"/>
              <p:nvPr/>
            </p:nvSpPr>
            <p:spPr>
              <a:xfrm>
                <a:off x="0" y="0"/>
                <a:ext cx="4572000" cy="914400"/>
              </a:xfrm>
              <a:prstGeom prst="rect">
                <a:avLst/>
              </a:prstGeom>
            </p:spPr>
            <p:txBody>
              <a:bodyPr/>
              <a:lstStyle/>
              <a:p>
                <a:r>
                  <a:rPr lang="en-US" dirty="0"/>
                  <a:t>Carotenoids turn them pink</a:t>
                </a:r>
                <a:endParaRPr lang="en-US" dirty="0"/>
              </a:p>
            </p:txBody>
          </p:sp>
        </p:grpSp>
      </p:grpSp>
      <p:cxnSp>
        <p:nvCxnSpPr>
          <p:cNvPr id="8" name="Straight Connector 7"/>
          <p:cNvCxnSpPr/>
          <p:nvPr/>
        </p:nvCxnSpPr>
        <p:spPr>
          <a:xfrm>
            <a:off x="838200" y="1500000"/>
            <a:ext cx="4572000" cy="914400"/>
          </a:xfrm>
          <a:prstGeom prst="line">
            <a:avLst/>
          </a:prstGeom>
        </p:spPr>
      </p:cxnSp>
      <p:sp>
        <p:nvSpPr>
          <p:cNvPr id="9" name="TextBox 8"/>
          <p:cNvSpPr txBox="1"/>
          <p:nvPr/>
        </p:nvSpPr>
        <p:spPr>
          <a:xfrm>
            <a:off x="838200" y="1300000"/>
            <a:ext cx="4572000" cy="9144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Filter feeders, head upside down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flamingos</a:t>
            </a:r>
            <a:br>
              <a:rPr lang="en-US" dirty="0"/>
            </a:br>
            <a:r>
              <a:rPr lang="en-US" dirty="0"/>
              <a:t>live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Shallow coastal lagoons</a:t>
            </a:r>
            <a:endParaRPr lang="en-US" dirty="0"/>
          </a:p>
          <a:p>
            <a:r>
              <a:rPr lang="en-US" dirty="0"/>
              <a:t>Salt flats</a:t>
            </a:r>
            <a:br>
              <a:rPr lang="en-US" dirty="0"/>
            </a:br>
            <a:r>
              <a:rPr lang="en-US" dirty="0"/>
              <a:t>and estuaries</a:t>
            </a:r>
            <a:endParaRPr lang="en-US" dirty="0"/>
          </a:p>
          <a:p>
            <a:endParaRPr lang="en-US" dirty="0"/>
          </a:p>
          <a:p>
            <a:r>
              <a:rPr lang="en-US" dirty="0"/>
              <a:t>Alkaline lakes</a:t>
            </a:r>
            <a:endParaRPr lang="en-US" dirty="0"/>
          </a:p>
          <a:p>
            <a:pPr lvl="1"/>
            <a:r>
              <a:rPr lang="en-US" dirty="0"/>
              <a:t>Lake Natron, </a:t>
            </a:r>
            <a:r>
              <a:rPr lang="en-US" dirty="0"/>
              <a:t>Tanzania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t>2</a:t>
            </a:fld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Population by region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838200" y="5200000"/>
            <a:ext cx="4572000" cy="9144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Source: field counts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38200" y="1800000"/>
          <a:ext cx="6096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/>
                <a:gridCol w="2032000"/>
                <a:gridCol w="2032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Region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Count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Trend</a:t>
                      </a:r>
                      <a:endParaRPr lang="en-US" dirty="0"/>
                    </a:p>
                    <a:p>
                      <a:r>
                        <a:rPr lang="en-US" dirty="0"/>
                        <a:t>(5 yr)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Africa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2,000,000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Stable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South America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600,000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Rising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t>4</a:t>
            </a:fld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838200" y="2000000"/>
            <a:ext cx="4572000" cy="9144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Backup: survey methodology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838200" y="3000000"/>
                <a:ext cx="4572000" cy="914400"/>
              </a:xfrm>
              <a:prstGeom prst="rect">
                <a:avLst/>
              </a:prstGeom>
            </p:spPr>
            <p:txBody>
              <a:bodyPr/>
              <a:lstStyle/>
              <a:p>
                <a:r>
                  <a:rPr lang="en-US" dirty="0"/>
                  <a:t>Sample sizes per colony</a:t>
                </a:r>
                <a:endParaRPr lang="en-US" dirty="0"/>
              </a:p>
            </p:txBody>
          </p:sp>
        </mc:Choice>
        <mc:Fallback>
          <p:sp>
            <p:nvSpPr>
              <p:cNvPr id="4" name="TextBox 3"/>
              <p:cNvSpPr txBox="1"/>
              <p:nvPr/>
            </p:nvSpPr>
            <p:spPr>
              <a:xfrm>
                <a:off x="838200" y="3000000"/>
                <a:ext cx="4572000" cy="914400"/>
              </a:xfrm>
              <a:prstGeom prst="rect">
                <a:avLst/>
              </a:prstGeom>
            </p:spPr>
            <p:txBody>
              <a:bodyPr/>
              <a:lstStyle/>
              <a:p>
                <a:r>
                  <a:rPr lang="en-US" dirty="0"/>
                  <a:t>Sample sizes per colony</a:t>
                </a:r>
                <a:endParaRPr lang="en-US" dirty="0"/>
              </a:p>
            </p:txBody>
          </p:sp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Application>Microsoft Office PowerPoint</Application>
  <PresentationFormat>Widescreen</PresentationFormat>
  <Slides>5</Slides>
  <Notes>4</Notes>
  <HiddenSlides>1</HiddenSlides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Flamingo Field Guide 2026</dc:title>
  <dc:creator>Flamingo Tests</dc:creator>
  <cp:lastModifiedBy>Flamingo Tests</cp:lastModifiedBy>
  <cp:revision>3</cp:revision>
  <dcterms:created xsi:type="dcterms:W3CDTF">2026-10-14T09:00:00Z</dcterms:created>
  <dcterms:modified xsi:type="dcterms:W3CDTF">2026-10-14T10:00:00Z</dcterms:modified>
</cp:coreProperties>
</file>