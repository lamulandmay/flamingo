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Q3 revenue ($k)</c:v>
                </c:pt>
              </c:strCache>
            </c:strRef>
          </c:tx>
          <c:spPr>
            <a:solidFill>
              <a:srgbClr val="E86A5C"/>
            </a:solidFill>
          </c:spPr>
          <c:cat>
            <c:strRef>
              <c:f>Sheet1!$A$2:$A$4</c:f>
              <c:strCache>
                <c:ptCount val="3"/>
                <c:pt idx="0">
                  <c:v>DTC</c:v>
                </c:pt>
                <c:pt idx="1">
                  <c:v>Retail</c:v>
                </c:pt>
                <c:pt idx="2">
                  <c:v>B2B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251</c:v>
                </c:pt>
                <c:pt idx="1">
                  <c:v>111</c:v>
                </c:pt>
                <c:pt idx="2">
                  <c:v>50</c:v>
                </c:pt>
              </c:numCache>
            </c:numRef>
          </c:val>
        </c:ser>
        <c:dLbls>
          <c:numFmt formatCode="&quot;$&quot;0&quot;k&quot;" sourceLinked="0"/>
          <c:txPr>
            <a:bodyPr/>
            <a:lstStyle/>
            <a:p>
              <a:pPr>
                <a:defRPr sz="14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Runway drops to 14 months if we draw the inventory facility. Say both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DTC carried the quarter. Retail is two accounts, both renewing.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number we want the board to anchor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377440"/>
            <a:ext cx="10728655" cy="1188720"/>
          </a:xfrm>
        </p:spPr>
        <p:txBody>
          <a:bodyPr/>
          <a:lstStyle/>
          <a:p>
            <a:pPr algn="l"/>
            <a:r>
              <a:rPr sz="4800" b="1">
                <a:solidFill>
                  <a:srgbClr val="1F232A"/>
                </a:solidFill>
                <a:latin typeface="Helvetica Neue"/>
              </a:rPr>
              <a:t>Q3 2026 Board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566160"/>
            <a:ext cx="10728655" cy="731520"/>
          </a:xfrm>
        </p:spPr>
        <p:txBody>
          <a:bodyPr/>
          <a:lstStyle/>
          <a:p>
            <a:pPr algn="l"/>
            <a:r>
              <a:rPr sz="2000">
                <a:solidFill>
                  <a:srgbClr val="5C636E"/>
                </a:solidFill>
                <a:latin typeface="Helvetica Neue"/>
              </a:rPr>
              <a:t>Kestrel Works  ·  October 9,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9456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37360"/>
            <a:ext cx="10728655" cy="448056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Q3 results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Arc: production readiness and customer research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Pricing and unit economics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Supply chain and hiring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Risks and 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Q3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37360"/>
            <a:ext cx="10728655" cy="448056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Revenue $412k, up 38% quarter over quarter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Gross margin 52%, up from 47%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Cash $2.1M; runway 19 months at current burn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Waitlist for Arc: 4,812 as of September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Revenue by channel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737360"/>
          <a:ext cx="7772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778240" y="219456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32A"/>
                </a:solidFill>
              </a:rPr>
              <a:t>$412k total</a:t>
            </a:r>
          </a:p>
          <a:p>
            <a:r>
              <a:rPr sz="1800" b="0">
                <a:solidFill>
                  <a:srgbClr val="5C636E"/>
                </a:solidFill>
              </a:rPr>
              <a:t>DTC 61%</a:t>
            </a:r>
          </a:p>
          <a:p>
            <a:r>
              <a:rPr sz="1800" b="0">
                <a:solidFill>
                  <a:srgbClr val="5C636E"/>
                </a:solidFill>
              </a:rPr>
              <a:t>Retail 27%</a:t>
            </a:r>
          </a:p>
          <a:p>
            <a:r>
              <a:rPr sz="1800" b="0">
                <a:solidFill>
                  <a:srgbClr val="5C636E"/>
                </a:solidFill>
              </a:rPr>
              <a:t>B2B 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Arc: production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37360"/>
            <a:ext cx="10728655" cy="448056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EVT complete in July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DVT passed 14 of 16 tests; hinge torque and driver EMI being reworked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PVT starts October 27 at Dongguan line 3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Tooling for the shade is cut; base tooling ships October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Arc: what customers told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37360"/>
            <a:ext cx="10728655" cy="448056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22 interviews across architects, writers, and engineers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Flicker at low brightness is the most cited complaint about current lamps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Warm dimming below 2700K mattered to 15 of 22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Clamp mounting asked for unprompted by 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37360"/>
            <a:ext cx="10728655" cy="448056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Arc: $249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Arc Mini: $179, January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Launch November 18 with DTC first, retail in week two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No launch discount; waitlist gets free shipping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Unit economics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F232A"/>
                          </a:solidFill>
                        </a:rPr>
                        <a:t>Arc</a:t>
                      </a:r>
                    </a:p>
                  </a:txBody>
                  <a:tcPr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F232A"/>
                          </a:solidFill>
                        </a:rPr>
                        <a:t>Arc Mini</a:t>
                      </a:r>
                    </a:p>
                  </a:txBody>
                  <a:tcPr>
                    <a:solidFill>
                      <a:srgbClr val="F4F4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A"/>
                          </a:solidFill>
                        </a:rPr>
                        <a:t>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F232A"/>
                          </a:solidFill>
                        </a:rPr>
                        <a:t>$249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F232A"/>
                          </a:solidFill>
                        </a:rPr>
                        <a:t>$179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A"/>
                          </a:solidFill>
                        </a:rPr>
                        <a:t>BOM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F232A"/>
                          </a:solidFill>
                        </a:rPr>
                        <a:t>$71.40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F232A"/>
                          </a:solidFill>
                        </a:rPr>
                        <a:t>$52.10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A"/>
                          </a:solidFill>
                        </a:rPr>
                        <a:t>Landed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F232A"/>
                          </a:solidFill>
                        </a:rPr>
                        <a:t>$84.10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F232A"/>
                          </a:solidFill>
                        </a:rPr>
                        <a:t>$62.30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A"/>
                          </a:solidFill>
                        </a:rPr>
                        <a:t>Payment and fulfillment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F232A"/>
                          </a:solidFill>
                        </a:rPr>
                        <a:t>$19.20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F232A"/>
                          </a:solidFill>
                        </a:rPr>
                        <a:t>$15.80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A"/>
                          </a:solidFill>
                        </a:rPr>
                        <a:t>Contribution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F232A"/>
                          </a:solidFill>
                        </a:rPr>
                        <a:t>$145.70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F232A"/>
                          </a:solidFill>
                        </a:rPr>
                        <a:t>$100.90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32A"/>
                          </a:solidFill>
                        </a:rPr>
                        <a:t>Contribution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F232A"/>
                          </a:solidFill>
                        </a:rP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1F232A"/>
                          </a:solidFill>
                        </a:rP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Supply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37360"/>
            <a:ext cx="10728655" cy="448056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LED modules from Lumen Optics, single source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Ten-week lead time on modules; MOQ 5,000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Second source qualified by end of Q1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Freight: ocean for launch stock, air only for top-ups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Hiring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37360"/>
            <a:ext cx="10728655" cy="448056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Firmware engineer: offer out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Operations lead: final round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Customer experience: opens November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37360"/>
            <a:ext cx="10728655" cy="448056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Holiday shipping cutoff December 12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Price perception against $150 lamps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Single-source LED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Asks of the 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37360"/>
            <a:ext cx="10728655" cy="448056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Approve a $600k inventory facility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Introductions to two retail buyers before November 4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Feedback on Arc Pro as a 2027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2026 Board Review</dc:title>
  <dc:subject/>
  <dc:creator>Priya Raman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